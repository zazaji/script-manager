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latin typeface="微软雅黑"/>
              </a:defRPr>
            </a:pPr>
            <a:r>
              <a:t>LLM Agent 系统架构图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latin typeface="微软雅黑"/>
              </a:defRPr>
            </a:pPr>
            <a:r>
              <a:t>感知-思考-执行 三层经典架构</a:t>
            </a:r>
          </a:p>
          <a:p>
            <a:r>
              <a:t>生成时间：2026-05-26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0"/>
            <a:ext cx="1371600" cy="914400"/>
          </a:xfrm>
          <a:prstGeom prst="roundRect">
            <a:avLst>
              <a:gd name="adj" fmla="val 5333"/>
            </a:avLst>
          </a:prstGeom>
          <a:solidFill>
            <a:srgbClr val="ADD8E6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用户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输入/交互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286000"/>
            <a:ext cx="1371600" cy="914400"/>
          </a:xfrm>
          <a:prstGeom prst="roundRect">
            <a:avLst>
              <a:gd name="adj" fmla="val 5333"/>
            </a:avLst>
          </a:prstGeom>
          <a:solidFill>
            <a:srgbClr val="90EE90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感知层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输入解析</a:t>
            </a:r>
            <a:br/>
            <a:r>
              <a:t>意图识别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D8BFD8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思考层</a:t>
            </a:r>
            <a:br/>
            <a:r>
              <a:t>(核心)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大语言模型</a:t>
            </a:r>
            <a:br/>
            <a:r>
              <a:t>推理规划</a:t>
            </a:r>
            <a:br/>
            <a:r>
              <a:t>决策生成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1371600" cy="914400"/>
          </a:xfrm>
          <a:prstGeom prst="roundRect">
            <a:avLst>
              <a:gd name="adj" fmla="val 5333"/>
            </a:avLst>
          </a:prstGeom>
          <a:solidFill>
            <a:srgbClr val="FFDAB9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工具层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搜索引擎</a:t>
            </a:r>
            <a:br/>
            <a:r>
              <a:t>代码执行</a:t>
            </a:r>
            <a:br/>
            <a:r>
              <a:t>数据库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1371600" cy="914400"/>
          </a:xfrm>
          <a:prstGeom prst="roundRect">
            <a:avLst>
              <a:gd name="adj" fmla="val 5333"/>
            </a:avLst>
          </a:prstGeom>
          <a:solidFill>
            <a:srgbClr val="FFFFCC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执行层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工具调用</a:t>
            </a:r>
            <a:br/>
            <a:r>
              <a:t>结果整合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1371600" cy="914400"/>
          </a:xfrm>
          <a:prstGeom prst="roundRect">
            <a:avLst>
              <a:gd name="adj" fmla="val 5333"/>
            </a:avLst>
          </a:prstGeom>
          <a:solidFill>
            <a:srgbClr val="FFC0CB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输出层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响应生成</a:t>
            </a:r>
            <a:br/>
            <a:r>
              <a:t>结果展示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57200"/>
            <a:ext cx="1828800" cy="731520"/>
          </a:xfrm>
          <a:prstGeom prst="roundRect">
            <a:avLst>
              <a:gd name="adj" fmla="val 4000"/>
            </a:avLst>
          </a:prstGeom>
          <a:solidFill>
            <a:srgbClr val="E6E6FA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000000"/>
                </a:solidFill>
                <a:latin typeface="微软雅黑"/>
              </a:defRPr>
            </a:pPr>
            <a:r>
              <a:t>记忆模块</a:t>
            </a:r>
          </a:p>
          <a:p>
            <a:pPr algn="ctr">
              <a:defRPr sz="1100">
                <a:solidFill>
                  <a:srgbClr val="000000"/>
                </a:solidFill>
                <a:latin typeface="微软雅黑"/>
              </a:defRPr>
            </a:pPr>
            <a:r>
              <a:t>短期记忆</a:t>
            </a:r>
            <a:br/>
            <a:r>
              <a:t>长期记忆</a:t>
            </a:r>
            <a:br/>
            <a:r>
              <a:t>向量数据库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.0" y="2743200.0"/>
            <a:ext cx="1828800.0" cy="0.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71800.0" y="2743200.0"/>
            <a:ext cx="2057400.0" cy="0.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29200.0" y="2743200.0"/>
            <a:ext cx="2057400.0" cy="0.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.0" y="2743200.0"/>
            <a:ext cx="1828800.0" cy="0.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029200.0" y="1371600.0"/>
            <a:ext cx="2057400.0" cy="1371600.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.0" y="1371600.0"/>
            <a:ext cx="0.0" cy="1371600.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.0" y="822960.0"/>
            <a:ext cx="0.0" cy="1920240.0"/>
          </a:xfrm>
          <a:prstGeom prst="line">
            <a:avLst/>
          </a:prstGeom>
          <a:ln w="19050">
            <a:solidFill>
              <a:srgbClr val="44444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